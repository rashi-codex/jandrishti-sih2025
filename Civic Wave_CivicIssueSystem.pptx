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29E56"/>
    <a:srgbClr val="323232"/>
    <a:srgbClr val="9BBB59"/>
    <a:srgbClr val="39B0D4"/>
    <a:srgbClr val="727272"/>
    <a:srgbClr val="010000"/>
    <a:srgbClr val="FFA7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6" d="100"/>
          <a:sy n="86" d="100"/>
        </p:scale>
        <p:origin x="533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tableStyles" Target="tableStyle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theme" Target="theme/theme1.xml" /><Relationship Id="rId5" Type="http://schemas.openxmlformats.org/officeDocument/2006/relationships/slide" Target="slides/slide4.xml" /><Relationship Id="rId10" Type="http://schemas.openxmlformats.org/officeDocument/2006/relationships/viewProps" Target="viewProps.xml" /><Relationship Id="rId4" Type="http://schemas.openxmlformats.org/officeDocument/2006/relationships/slide" Target="slides/slide3.xml" /><Relationship Id="rId9" Type="http://schemas.openxmlformats.org/officeDocument/2006/relationships/presProps" Target="presProps.xml" 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F092554-9784-422E-8A48-8F3C269242C3}" type="doc">
      <dgm:prSet loTypeId="urn:microsoft.com/office/officeart/2005/8/layout/hList1" loCatId="list" qsTypeId="urn:microsoft.com/office/officeart/2005/8/quickstyle/3d4" qsCatId="3D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756C0150-21D2-4143-B83F-5F5480F5B04B}">
      <dgm:prSet phldrT="[Text]"/>
      <dgm:spPr/>
      <dgm:t>
        <a:bodyPr/>
        <a:lstStyle/>
        <a:p>
          <a:r>
            <a:rPr lang="en-US" dirty="0"/>
            <a:t>Feasibility Analysis</a:t>
          </a:r>
        </a:p>
      </dgm:t>
    </dgm:pt>
    <dgm:pt modelId="{4451F05F-FC2D-476D-8DE6-982AAAE17F6B}" type="parTrans" cxnId="{A04B30BF-82CC-4F3C-957B-60CCF44045C8}">
      <dgm:prSet/>
      <dgm:spPr/>
      <dgm:t>
        <a:bodyPr/>
        <a:lstStyle/>
        <a:p>
          <a:endParaRPr lang="en-US"/>
        </a:p>
      </dgm:t>
    </dgm:pt>
    <dgm:pt modelId="{A09BBAD3-CA95-4A22-BAA3-495172DEBFF4}" type="sibTrans" cxnId="{A04B30BF-82CC-4F3C-957B-60CCF44045C8}">
      <dgm:prSet/>
      <dgm:spPr/>
      <dgm:t>
        <a:bodyPr/>
        <a:lstStyle/>
        <a:p>
          <a:endParaRPr lang="en-US"/>
        </a:p>
      </dgm:t>
    </dgm:pt>
    <dgm:pt modelId="{571CE1CE-E114-460F-8179-2BC8CCBDE636}">
      <dgm:prSet phldrT="[Text]" custT="1"/>
      <dgm:spPr/>
      <dgm:t>
        <a:bodyPr/>
        <a:lstStyle/>
        <a:p>
          <a:r>
            <a:rPr lang="en-IN" sz="2000" dirty="0"/>
            <a:t>Support Technologies like React,TypeScript.</a:t>
          </a:r>
          <a:endParaRPr lang="en-US" sz="2000" dirty="0"/>
        </a:p>
      </dgm:t>
    </dgm:pt>
    <dgm:pt modelId="{B58CDBB2-6569-4E52-81F0-3A4B4655BA51}" type="parTrans" cxnId="{6BAB3A7D-7AC6-46AC-8A78-50F28D5EF71C}">
      <dgm:prSet/>
      <dgm:spPr/>
      <dgm:t>
        <a:bodyPr/>
        <a:lstStyle/>
        <a:p>
          <a:endParaRPr lang="en-US"/>
        </a:p>
      </dgm:t>
    </dgm:pt>
    <dgm:pt modelId="{7FA2C45A-7AFA-409E-9408-E0E7909B3BA3}" type="sibTrans" cxnId="{6BAB3A7D-7AC6-46AC-8A78-50F28D5EF71C}">
      <dgm:prSet/>
      <dgm:spPr/>
      <dgm:t>
        <a:bodyPr/>
        <a:lstStyle/>
        <a:p>
          <a:endParaRPr lang="en-US"/>
        </a:p>
      </dgm:t>
    </dgm:pt>
    <dgm:pt modelId="{15A6CFC4-FB22-4F13-B31A-50F9B4D96413}">
      <dgm:prSet phldrT="[Text]" custT="1"/>
      <dgm:spPr/>
      <dgm:t>
        <a:bodyPr/>
        <a:lstStyle/>
        <a:p>
          <a:r>
            <a:rPr lang="en-IN" sz="2000" dirty="0"/>
            <a:t>User friendly Design.</a:t>
          </a:r>
          <a:endParaRPr lang="en-US" sz="2000" dirty="0"/>
        </a:p>
      </dgm:t>
    </dgm:pt>
    <dgm:pt modelId="{033B9B4D-22C6-4086-B52D-CBE365BDB93D}" type="parTrans" cxnId="{409B6E71-1636-4577-BA07-6CE5E0D5797A}">
      <dgm:prSet/>
      <dgm:spPr/>
      <dgm:t>
        <a:bodyPr/>
        <a:lstStyle/>
        <a:p>
          <a:endParaRPr lang="en-US"/>
        </a:p>
      </dgm:t>
    </dgm:pt>
    <dgm:pt modelId="{D7510244-E810-4CBB-992D-E790E7D7AE39}" type="sibTrans" cxnId="{409B6E71-1636-4577-BA07-6CE5E0D5797A}">
      <dgm:prSet/>
      <dgm:spPr/>
      <dgm:t>
        <a:bodyPr/>
        <a:lstStyle/>
        <a:p>
          <a:endParaRPr lang="en-US"/>
        </a:p>
      </dgm:t>
    </dgm:pt>
    <dgm:pt modelId="{7FDD3E96-E108-403E-ABB9-1677B0AD6BF4}">
      <dgm:prSet phldrT="[Text]"/>
      <dgm:spPr/>
      <dgm:t>
        <a:bodyPr/>
        <a:lstStyle/>
        <a:p>
          <a:r>
            <a:rPr lang="en-US" dirty="0"/>
            <a:t>Potential Challenges and Risk</a:t>
          </a:r>
        </a:p>
      </dgm:t>
    </dgm:pt>
    <dgm:pt modelId="{123FFF36-CFC0-43E3-8E3F-357AF5376B5E}" type="parTrans" cxnId="{53923925-8000-4A12-83F4-513EDC9DD370}">
      <dgm:prSet/>
      <dgm:spPr/>
      <dgm:t>
        <a:bodyPr/>
        <a:lstStyle/>
        <a:p>
          <a:endParaRPr lang="en-US"/>
        </a:p>
      </dgm:t>
    </dgm:pt>
    <dgm:pt modelId="{A2B52C65-1383-41BF-9EFD-B6C9DEFDF20A}" type="sibTrans" cxnId="{53923925-8000-4A12-83F4-513EDC9DD370}">
      <dgm:prSet/>
      <dgm:spPr/>
      <dgm:t>
        <a:bodyPr/>
        <a:lstStyle/>
        <a:p>
          <a:endParaRPr lang="en-US"/>
        </a:p>
      </dgm:t>
    </dgm:pt>
    <dgm:pt modelId="{2B92BCCB-61A4-4AA0-8A1D-C3810769B703}">
      <dgm:prSet phldrT="[Text]" custT="1"/>
      <dgm:spPr/>
      <dgm:t>
        <a:bodyPr/>
        <a:lstStyle/>
        <a:p>
          <a:r>
            <a:rPr lang="en-IN" sz="2000" dirty="0"/>
            <a:t>Delay or lack of action from authorities may reduce trust.</a:t>
          </a:r>
          <a:endParaRPr lang="en-US" sz="2000" dirty="0"/>
        </a:p>
      </dgm:t>
    </dgm:pt>
    <dgm:pt modelId="{3983872C-11EF-4972-B791-462119BE0850}" type="parTrans" cxnId="{F4A6DC5E-8E53-42CC-AA3E-2E2E46A493F4}">
      <dgm:prSet/>
      <dgm:spPr/>
      <dgm:t>
        <a:bodyPr/>
        <a:lstStyle/>
        <a:p>
          <a:endParaRPr lang="en-US"/>
        </a:p>
      </dgm:t>
    </dgm:pt>
    <dgm:pt modelId="{7AD5AC41-F7A7-476C-8B88-B3FAA9D97545}" type="sibTrans" cxnId="{F4A6DC5E-8E53-42CC-AA3E-2E2E46A493F4}">
      <dgm:prSet/>
      <dgm:spPr/>
      <dgm:t>
        <a:bodyPr/>
        <a:lstStyle/>
        <a:p>
          <a:endParaRPr lang="en-US"/>
        </a:p>
      </dgm:t>
    </dgm:pt>
    <dgm:pt modelId="{B183514B-01A6-4C66-BBED-B8A7C19CF25B}">
      <dgm:prSet phldrT="[Text]" custT="1"/>
      <dgm:spPr/>
      <dgm:t>
        <a:bodyPr/>
        <a:lstStyle/>
        <a:p>
          <a:r>
            <a:rPr lang="en-IN" sz="2000" dirty="0"/>
            <a:t>Sensitive user data might be at risk.</a:t>
          </a:r>
          <a:endParaRPr lang="en-US" sz="2000" dirty="0"/>
        </a:p>
      </dgm:t>
    </dgm:pt>
    <dgm:pt modelId="{D2CCB0F9-3716-4E22-A142-72A090B74662}" type="parTrans" cxnId="{4D11035A-5987-4A52-B251-0B55CBF00E60}">
      <dgm:prSet/>
      <dgm:spPr/>
      <dgm:t>
        <a:bodyPr/>
        <a:lstStyle/>
        <a:p>
          <a:endParaRPr lang="en-US"/>
        </a:p>
      </dgm:t>
    </dgm:pt>
    <dgm:pt modelId="{9EAA2EB0-5FA5-4DBC-A552-EA57FFA4BBA1}" type="sibTrans" cxnId="{4D11035A-5987-4A52-B251-0B55CBF00E60}">
      <dgm:prSet/>
      <dgm:spPr/>
      <dgm:t>
        <a:bodyPr/>
        <a:lstStyle/>
        <a:p>
          <a:endParaRPr lang="en-US"/>
        </a:p>
      </dgm:t>
    </dgm:pt>
    <dgm:pt modelId="{3E0D00DB-FABA-4E17-8359-26B01E2E6CFF}">
      <dgm:prSet phldrT="[Text]"/>
      <dgm:spPr/>
      <dgm:t>
        <a:bodyPr/>
        <a:lstStyle/>
        <a:p>
          <a:r>
            <a:rPr lang="en-US" dirty="0"/>
            <a:t>Strategies to overcome Challenges</a:t>
          </a:r>
        </a:p>
      </dgm:t>
    </dgm:pt>
    <dgm:pt modelId="{48C00B60-64A8-46A9-B081-42738C87DFE5}" type="parTrans" cxnId="{824AC024-9D3F-4967-A9BF-7FB982E71933}">
      <dgm:prSet/>
      <dgm:spPr/>
      <dgm:t>
        <a:bodyPr/>
        <a:lstStyle/>
        <a:p>
          <a:endParaRPr lang="en-US"/>
        </a:p>
      </dgm:t>
    </dgm:pt>
    <dgm:pt modelId="{8CF9373D-1245-4FFC-A3D9-6E5553BF8BF4}" type="sibTrans" cxnId="{824AC024-9D3F-4967-A9BF-7FB982E71933}">
      <dgm:prSet/>
      <dgm:spPr/>
      <dgm:t>
        <a:bodyPr/>
        <a:lstStyle/>
        <a:p>
          <a:endParaRPr lang="en-US"/>
        </a:p>
      </dgm:t>
    </dgm:pt>
    <dgm:pt modelId="{A727DA04-C964-4599-8FC2-B31F706AD305}">
      <dgm:prSet phldrT="[Text]" custT="1"/>
      <dgm:spPr/>
      <dgm:t>
        <a:bodyPr/>
        <a:lstStyle/>
        <a:p>
          <a:r>
            <a:rPr lang="en-IN" sz="2000" dirty="0"/>
            <a:t>Provide admin dashboard for efficient issue management.</a:t>
          </a:r>
          <a:endParaRPr lang="en-US" sz="2000" dirty="0"/>
        </a:p>
      </dgm:t>
    </dgm:pt>
    <dgm:pt modelId="{4699DB93-6FC2-4B94-83AE-E7091C13E254}" type="parTrans" cxnId="{34B8341D-E39B-4714-BC25-C2E18A2EAA2A}">
      <dgm:prSet/>
      <dgm:spPr/>
      <dgm:t>
        <a:bodyPr/>
        <a:lstStyle/>
        <a:p>
          <a:endParaRPr lang="en-US"/>
        </a:p>
      </dgm:t>
    </dgm:pt>
    <dgm:pt modelId="{681EDB8D-FC6B-4003-80E4-4BB1857D46AE}" type="sibTrans" cxnId="{34B8341D-E39B-4714-BC25-C2E18A2EAA2A}">
      <dgm:prSet/>
      <dgm:spPr/>
      <dgm:t>
        <a:bodyPr/>
        <a:lstStyle/>
        <a:p>
          <a:endParaRPr lang="en-US"/>
        </a:p>
      </dgm:t>
    </dgm:pt>
    <dgm:pt modelId="{E4E0830A-3B22-43B9-BFA3-35728FFDD0DC}">
      <dgm:prSet phldrT="[Text]" custT="1"/>
      <dgm:spPr/>
      <dgm:t>
        <a:bodyPr/>
        <a:lstStyle/>
        <a:p>
          <a:r>
            <a:rPr lang="en-IN" sz="2000" dirty="0"/>
            <a:t>Secure authentication and clear privacy policy to build trust.</a:t>
          </a:r>
          <a:endParaRPr lang="en-US" sz="2000" dirty="0"/>
        </a:p>
      </dgm:t>
    </dgm:pt>
    <dgm:pt modelId="{951028E9-28DC-4541-98C8-2995C71F4E2C}" type="parTrans" cxnId="{5781ED81-1EFA-43CA-92BA-42D2793B1F44}">
      <dgm:prSet/>
      <dgm:spPr/>
      <dgm:t>
        <a:bodyPr/>
        <a:lstStyle/>
        <a:p>
          <a:endParaRPr lang="en-US"/>
        </a:p>
      </dgm:t>
    </dgm:pt>
    <dgm:pt modelId="{27E91AB6-8975-462B-827A-D37FFFB4E9DE}" type="sibTrans" cxnId="{5781ED81-1EFA-43CA-92BA-42D2793B1F44}">
      <dgm:prSet/>
      <dgm:spPr/>
      <dgm:t>
        <a:bodyPr/>
        <a:lstStyle/>
        <a:p>
          <a:endParaRPr lang="en-US"/>
        </a:p>
      </dgm:t>
    </dgm:pt>
    <dgm:pt modelId="{86A6CAF4-D8F4-4637-AC6F-D00CEF68E145}">
      <dgm:prSet phldrT="[Text]" custT="1"/>
      <dgm:spPr/>
      <dgm:t>
        <a:bodyPr/>
        <a:lstStyle/>
        <a:p>
          <a:r>
            <a:rPr lang="en-IN" sz="2000" dirty="0"/>
            <a:t>Increase  citizen Engagement and trust in governance.</a:t>
          </a:r>
          <a:endParaRPr lang="en-US" sz="2000" dirty="0"/>
        </a:p>
      </dgm:t>
    </dgm:pt>
    <dgm:pt modelId="{B14F703B-CB8B-45CB-8427-D2ACD7265A1C}" type="parTrans" cxnId="{7B16635E-4E03-4192-94B4-70086B01FED2}">
      <dgm:prSet/>
      <dgm:spPr/>
    </dgm:pt>
    <dgm:pt modelId="{F22F0FF6-CE18-4764-96E1-42D48AB65EE1}" type="sibTrans" cxnId="{7B16635E-4E03-4192-94B4-70086B01FED2}">
      <dgm:prSet/>
      <dgm:spPr/>
    </dgm:pt>
    <dgm:pt modelId="{A26BB1B2-83B0-4B00-8D18-B3EBC0D924CE}">
      <dgm:prSet phldrT="[Text]" custT="1"/>
      <dgm:spPr/>
      <dgm:t>
        <a:bodyPr/>
        <a:lstStyle/>
        <a:p>
          <a:r>
            <a:rPr lang="en-IN" sz="2000" dirty="0"/>
            <a:t>Scalability Plans ensure long term growth.</a:t>
          </a:r>
          <a:endParaRPr lang="en-US" sz="2000" dirty="0"/>
        </a:p>
      </dgm:t>
    </dgm:pt>
    <dgm:pt modelId="{1A5B053D-E03D-4A0F-BF17-79D6766F7411}" type="parTrans" cxnId="{4F9BD519-EC04-49CE-A254-821501501ABB}">
      <dgm:prSet/>
      <dgm:spPr/>
    </dgm:pt>
    <dgm:pt modelId="{F3F2EDF3-0948-4D7C-BAA6-17D9AE991E99}" type="sibTrans" cxnId="{4F9BD519-EC04-49CE-A254-821501501ABB}">
      <dgm:prSet/>
      <dgm:spPr/>
    </dgm:pt>
    <dgm:pt modelId="{2BCDC39A-BF73-4A4C-8A6C-442301B5E7E9}">
      <dgm:prSet phldrT="[Text]" custT="1"/>
      <dgm:spPr/>
      <dgm:t>
        <a:bodyPr/>
        <a:lstStyle/>
        <a:p>
          <a:r>
            <a:rPr lang="en-IN" sz="2000" dirty="0"/>
            <a:t>Risk of false reporting or spam or misuse of platform.</a:t>
          </a:r>
          <a:endParaRPr lang="en-US" sz="2000" dirty="0"/>
        </a:p>
      </dgm:t>
    </dgm:pt>
    <dgm:pt modelId="{EE347196-EC04-4EFC-9025-2846CF8D7C91}" type="parTrans" cxnId="{73C5A8C4-58BF-455D-9CCE-F5BB4A205103}">
      <dgm:prSet/>
      <dgm:spPr/>
    </dgm:pt>
    <dgm:pt modelId="{474CFBAE-85DE-43F0-9A18-3DFB5683129A}" type="sibTrans" cxnId="{73C5A8C4-58BF-455D-9CCE-F5BB4A205103}">
      <dgm:prSet/>
      <dgm:spPr/>
    </dgm:pt>
    <dgm:pt modelId="{BB6288EB-8D5E-4F88-AE54-16AAE736000F}">
      <dgm:prSet phldrT="[Text]" custT="1"/>
      <dgm:spPr/>
      <dgm:t>
        <a:bodyPr/>
        <a:lstStyle/>
        <a:p>
          <a:r>
            <a:rPr lang="en-IN" sz="2000" dirty="0"/>
            <a:t>Implement verification and reporting mechanism to maintain integrity.</a:t>
          </a:r>
          <a:endParaRPr lang="en-US" sz="2000" dirty="0"/>
        </a:p>
      </dgm:t>
    </dgm:pt>
    <dgm:pt modelId="{2020EFA9-4AAC-499D-ABAA-72C6E3EB3581}" type="parTrans" cxnId="{366AD65A-41EE-4673-B356-B304D7B9770A}">
      <dgm:prSet/>
      <dgm:spPr/>
    </dgm:pt>
    <dgm:pt modelId="{E6EC2492-69E0-4A6A-B6FA-3CD4FD376023}" type="sibTrans" cxnId="{366AD65A-41EE-4673-B356-B304D7B9770A}">
      <dgm:prSet/>
      <dgm:spPr/>
    </dgm:pt>
    <dgm:pt modelId="{6B79ADF7-9D30-4001-B958-7AD5F2A081AF}">
      <dgm:prSet phldrT="[Text]" custT="1"/>
      <dgm:spPr/>
      <dgm:t>
        <a:bodyPr/>
        <a:lstStyle/>
        <a:p>
          <a:r>
            <a:rPr lang="en-IN" sz="2000" dirty="0"/>
            <a:t>Data Management </a:t>
          </a:r>
          <a:endParaRPr lang="en-US" sz="2000" dirty="0"/>
        </a:p>
      </dgm:t>
    </dgm:pt>
    <dgm:pt modelId="{966E2388-FC52-4840-B917-E391A4850DDE}" type="parTrans" cxnId="{C1CFE43E-6622-4447-8AE9-BC59F208BBFC}">
      <dgm:prSet/>
      <dgm:spPr/>
    </dgm:pt>
    <dgm:pt modelId="{5CFFE312-6F56-4220-A09C-E792F1BC2A12}" type="sibTrans" cxnId="{C1CFE43E-6622-4447-8AE9-BC59F208BBFC}">
      <dgm:prSet/>
      <dgm:spPr/>
    </dgm:pt>
    <dgm:pt modelId="{ABD779F5-1B35-4623-954F-957ADD3E108A}" type="pres">
      <dgm:prSet presAssocID="{FF092554-9784-422E-8A48-8F3C269242C3}" presName="Name0" presStyleCnt="0">
        <dgm:presLayoutVars>
          <dgm:dir/>
          <dgm:animLvl val="lvl"/>
          <dgm:resizeHandles val="exact"/>
        </dgm:presLayoutVars>
      </dgm:prSet>
      <dgm:spPr/>
    </dgm:pt>
    <dgm:pt modelId="{DFA76C2A-1335-44AA-AF6C-F0B79900D6AE}" type="pres">
      <dgm:prSet presAssocID="{756C0150-21D2-4143-B83F-5F5480F5B04B}" presName="composite" presStyleCnt="0"/>
      <dgm:spPr/>
    </dgm:pt>
    <dgm:pt modelId="{247895CC-3B54-41F3-98B5-0E171F8D81BF}" type="pres">
      <dgm:prSet presAssocID="{756C0150-21D2-4143-B83F-5F5480F5B04B}" presName="parTx" presStyleLbl="alignNode1" presStyleIdx="0" presStyleCnt="3" custLinFactNeighborX="-103" custLinFactNeighborY="-70644">
        <dgm:presLayoutVars>
          <dgm:chMax val="0"/>
          <dgm:chPref val="0"/>
          <dgm:bulletEnabled val="1"/>
        </dgm:presLayoutVars>
      </dgm:prSet>
      <dgm:spPr/>
    </dgm:pt>
    <dgm:pt modelId="{4B868E55-2D11-4D6A-8E5C-1EB27B21D580}" type="pres">
      <dgm:prSet presAssocID="{756C0150-21D2-4143-B83F-5F5480F5B04B}" presName="desTx" presStyleLbl="alignAccFollowNode1" presStyleIdx="0" presStyleCnt="3">
        <dgm:presLayoutVars>
          <dgm:bulletEnabled val="1"/>
        </dgm:presLayoutVars>
      </dgm:prSet>
      <dgm:spPr/>
    </dgm:pt>
    <dgm:pt modelId="{7BDAAFF7-A84F-4DAA-B395-8ABC6952CE6B}" type="pres">
      <dgm:prSet presAssocID="{A09BBAD3-CA95-4A22-BAA3-495172DEBFF4}" presName="space" presStyleCnt="0"/>
      <dgm:spPr/>
    </dgm:pt>
    <dgm:pt modelId="{FD909468-9A55-4B1A-9DEF-5B00663252CC}" type="pres">
      <dgm:prSet presAssocID="{7FDD3E96-E108-403E-ABB9-1677B0AD6BF4}" presName="composite" presStyleCnt="0"/>
      <dgm:spPr/>
    </dgm:pt>
    <dgm:pt modelId="{CDA4D295-5EC2-420E-BF3D-BD8112341B3F}" type="pres">
      <dgm:prSet presAssocID="{7FDD3E96-E108-403E-ABB9-1677B0AD6BF4}" presName="parTx" presStyleLbl="alignNode1" presStyleIdx="1" presStyleCnt="3" custLinFactNeighborX="-754" custLinFactNeighborY="-71586">
        <dgm:presLayoutVars>
          <dgm:chMax val="0"/>
          <dgm:chPref val="0"/>
          <dgm:bulletEnabled val="1"/>
        </dgm:presLayoutVars>
      </dgm:prSet>
      <dgm:spPr/>
    </dgm:pt>
    <dgm:pt modelId="{101AB16B-317C-43B9-A7A0-A1A8A64F3469}" type="pres">
      <dgm:prSet presAssocID="{7FDD3E96-E108-403E-ABB9-1677B0AD6BF4}" presName="desTx" presStyleLbl="alignAccFollowNode1" presStyleIdx="1" presStyleCnt="3">
        <dgm:presLayoutVars>
          <dgm:bulletEnabled val="1"/>
        </dgm:presLayoutVars>
      </dgm:prSet>
      <dgm:spPr/>
    </dgm:pt>
    <dgm:pt modelId="{2A0B9B66-0862-4CB0-8FDF-0CEED71616FF}" type="pres">
      <dgm:prSet presAssocID="{A2B52C65-1383-41BF-9EFD-B6C9DEFDF20A}" presName="space" presStyleCnt="0"/>
      <dgm:spPr/>
    </dgm:pt>
    <dgm:pt modelId="{5AD856EA-48FA-420C-A7FA-C959FED0B30A}" type="pres">
      <dgm:prSet presAssocID="{3E0D00DB-FABA-4E17-8359-26B01E2E6CFF}" presName="composite" presStyleCnt="0"/>
      <dgm:spPr/>
    </dgm:pt>
    <dgm:pt modelId="{6E06C66C-1FAF-4C36-A413-590024F2364F}" type="pres">
      <dgm:prSet presAssocID="{3E0D00DB-FABA-4E17-8359-26B01E2E6CFF}" presName="parTx" presStyleLbl="alignNode1" presStyleIdx="2" presStyleCnt="3" custLinFactNeighborX="103" custLinFactNeighborY="-71586">
        <dgm:presLayoutVars>
          <dgm:chMax val="0"/>
          <dgm:chPref val="0"/>
          <dgm:bulletEnabled val="1"/>
        </dgm:presLayoutVars>
      </dgm:prSet>
      <dgm:spPr/>
    </dgm:pt>
    <dgm:pt modelId="{F2F2F282-0E7D-4489-B53C-45632B8515DC}" type="pres">
      <dgm:prSet presAssocID="{3E0D00DB-FABA-4E17-8359-26B01E2E6CFF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6AFD2109-04EA-450C-83AF-E60F61E12FBB}" type="presOf" srcId="{FF092554-9784-422E-8A48-8F3C269242C3}" destId="{ABD779F5-1B35-4623-954F-957ADD3E108A}" srcOrd="0" destOrd="0" presId="urn:microsoft.com/office/officeart/2005/8/layout/hList1"/>
    <dgm:cxn modelId="{4F7E150C-A4E6-4A6A-A2C0-0697AA85A104}" type="presOf" srcId="{3E0D00DB-FABA-4E17-8359-26B01E2E6CFF}" destId="{6E06C66C-1FAF-4C36-A413-590024F2364F}" srcOrd="0" destOrd="0" presId="urn:microsoft.com/office/officeart/2005/8/layout/hList1"/>
    <dgm:cxn modelId="{4F9BD519-EC04-49CE-A254-821501501ABB}" srcId="{756C0150-21D2-4143-B83F-5F5480F5B04B}" destId="{A26BB1B2-83B0-4B00-8D18-B3EBC0D924CE}" srcOrd="3" destOrd="0" parTransId="{1A5B053D-E03D-4A0F-BF17-79D6766F7411}" sibTransId="{F3F2EDF3-0948-4D7C-BAA6-17D9AE991E99}"/>
    <dgm:cxn modelId="{34B8341D-E39B-4714-BC25-C2E18A2EAA2A}" srcId="{3E0D00DB-FABA-4E17-8359-26B01E2E6CFF}" destId="{A727DA04-C964-4599-8FC2-B31F706AD305}" srcOrd="0" destOrd="0" parTransId="{4699DB93-6FC2-4B94-83AE-E7091C13E254}" sibTransId="{681EDB8D-FC6B-4003-80E4-4BB1857D46AE}"/>
    <dgm:cxn modelId="{C493651F-20D5-450C-8AC6-73F312F811F2}" type="presOf" srcId="{BB6288EB-8D5E-4F88-AE54-16AAE736000F}" destId="{F2F2F282-0E7D-4489-B53C-45632B8515DC}" srcOrd="0" destOrd="2" presId="urn:microsoft.com/office/officeart/2005/8/layout/hList1"/>
    <dgm:cxn modelId="{209FF520-BB38-4A8C-9CBE-115CF411F6E8}" type="presOf" srcId="{A26BB1B2-83B0-4B00-8D18-B3EBC0D924CE}" destId="{4B868E55-2D11-4D6A-8E5C-1EB27B21D580}" srcOrd="0" destOrd="3" presId="urn:microsoft.com/office/officeart/2005/8/layout/hList1"/>
    <dgm:cxn modelId="{C2F13824-A6AD-45D7-A197-A2D32CC805FC}" type="presOf" srcId="{A727DA04-C964-4599-8FC2-B31F706AD305}" destId="{F2F2F282-0E7D-4489-B53C-45632B8515DC}" srcOrd="0" destOrd="0" presId="urn:microsoft.com/office/officeart/2005/8/layout/hList1"/>
    <dgm:cxn modelId="{824AC024-9D3F-4967-A9BF-7FB982E71933}" srcId="{FF092554-9784-422E-8A48-8F3C269242C3}" destId="{3E0D00DB-FABA-4E17-8359-26B01E2E6CFF}" srcOrd="2" destOrd="0" parTransId="{48C00B60-64A8-46A9-B081-42738C87DFE5}" sibTransId="{8CF9373D-1245-4FFC-A3D9-6E5553BF8BF4}"/>
    <dgm:cxn modelId="{53923925-8000-4A12-83F4-513EDC9DD370}" srcId="{FF092554-9784-422E-8A48-8F3C269242C3}" destId="{7FDD3E96-E108-403E-ABB9-1677B0AD6BF4}" srcOrd="1" destOrd="0" parTransId="{123FFF36-CFC0-43E3-8E3F-357AF5376B5E}" sibTransId="{A2B52C65-1383-41BF-9EFD-B6C9DEFDF20A}"/>
    <dgm:cxn modelId="{D9FF5529-A956-4D0B-8961-37D3A15BFC72}" type="presOf" srcId="{7FDD3E96-E108-403E-ABB9-1677B0AD6BF4}" destId="{CDA4D295-5EC2-420E-BF3D-BD8112341B3F}" srcOrd="0" destOrd="0" presId="urn:microsoft.com/office/officeart/2005/8/layout/hList1"/>
    <dgm:cxn modelId="{1AB13C3B-9AA1-409A-9929-BCF8FFBE3F19}" type="presOf" srcId="{2B92BCCB-61A4-4AA0-8A1D-C3810769B703}" destId="{101AB16B-317C-43B9-A7A0-A1A8A64F3469}" srcOrd="0" destOrd="0" presId="urn:microsoft.com/office/officeart/2005/8/layout/hList1"/>
    <dgm:cxn modelId="{C1CFE43E-6622-4447-8AE9-BC59F208BBFC}" srcId="{7FDD3E96-E108-403E-ABB9-1677B0AD6BF4}" destId="{6B79ADF7-9D30-4001-B958-7AD5F2A081AF}" srcOrd="3" destOrd="0" parTransId="{966E2388-FC52-4840-B917-E391A4850DDE}" sibTransId="{5CFFE312-6F56-4220-A09C-E792F1BC2A12}"/>
    <dgm:cxn modelId="{7B16635E-4E03-4192-94B4-70086B01FED2}" srcId="{756C0150-21D2-4143-B83F-5F5480F5B04B}" destId="{86A6CAF4-D8F4-4637-AC6F-D00CEF68E145}" srcOrd="2" destOrd="0" parTransId="{B14F703B-CB8B-45CB-8427-D2ACD7265A1C}" sibTransId="{F22F0FF6-CE18-4764-96E1-42D48AB65EE1}"/>
    <dgm:cxn modelId="{F4A6DC5E-8E53-42CC-AA3E-2E2E46A493F4}" srcId="{7FDD3E96-E108-403E-ABB9-1677B0AD6BF4}" destId="{2B92BCCB-61A4-4AA0-8A1D-C3810769B703}" srcOrd="0" destOrd="0" parTransId="{3983872C-11EF-4972-B791-462119BE0850}" sibTransId="{7AD5AC41-F7A7-476C-8B88-B3FAA9D97545}"/>
    <dgm:cxn modelId="{4D84DD49-C542-4F67-A8FC-124B1A0503DB}" type="presOf" srcId="{15A6CFC4-FB22-4F13-B31A-50F9B4D96413}" destId="{4B868E55-2D11-4D6A-8E5C-1EB27B21D580}" srcOrd="0" destOrd="1" presId="urn:microsoft.com/office/officeart/2005/8/layout/hList1"/>
    <dgm:cxn modelId="{5F4BE76D-1F68-4BF8-B532-AF1A69A41A97}" type="presOf" srcId="{6B79ADF7-9D30-4001-B958-7AD5F2A081AF}" destId="{101AB16B-317C-43B9-A7A0-A1A8A64F3469}" srcOrd="0" destOrd="3" presId="urn:microsoft.com/office/officeart/2005/8/layout/hList1"/>
    <dgm:cxn modelId="{7489D06E-9EFA-429B-B2A7-301E8ACABEDF}" type="presOf" srcId="{571CE1CE-E114-460F-8179-2BC8CCBDE636}" destId="{4B868E55-2D11-4D6A-8E5C-1EB27B21D580}" srcOrd="0" destOrd="0" presId="urn:microsoft.com/office/officeart/2005/8/layout/hList1"/>
    <dgm:cxn modelId="{409B6E71-1636-4577-BA07-6CE5E0D5797A}" srcId="{756C0150-21D2-4143-B83F-5F5480F5B04B}" destId="{15A6CFC4-FB22-4F13-B31A-50F9B4D96413}" srcOrd="1" destOrd="0" parTransId="{033B9B4D-22C6-4086-B52D-CBE365BDB93D}" sibTransId="{D7510244-E810-4CBB-992D-E790E7D7AE39}"/>
    <dgm:cxn modelId="{A5F77356-FE12-41A7-BB5F-58A0040CF653}" type="presOf" srcId="{2BCDC39A-BF73-4A4C-8A6C-442301B5E7E9}" destId="{101AB16B-317C-43B9-A7A0-A1A8A64F3469}" srcOrd="0" destOrd="2" presId="urn:microsoft.com/office/officeart/2005/8/layout/hList1"/>
    <dgm:cxn modelId="{4D11035A-5987-4A52-B251-0B55CBF00E60}" srcId="{7FDD3E96-E108-403E-ABB9-1677B0AD6BF4}" destId="{B183514B-01A6-4C66-BBED-B8A7C19CF25B}" srcOrd="1" destOrd="0" parTransId="{D2CCB0F9-3716-4E22-A142-72A090B74662}" sibTransId="{9EAA2EB0-5FA5-4DBC-A552-EA57FFA4BBA1}"/>
    <dgm:cxn modelId="{366AD65A-41EE-4673-B356-B304D7B9770A}" srcId="{3E0D00DB-FABA-4E17-8359-26B01E2E6CFF}" destId="{BB6288EB-8D5E-4F88-AE54-16AAE736000F}" srcOrd="2" destOrd="0" parTransId="{2020EFA9-4AAC-499D-ABAA-72C6E3EB3581}" sibTransId="{E6EC2492-69E0-4A6A-B6FA-3CD4FD376023}"/>
    <dgm:cxn modelId="{6BAB3A7D-7AC6-46AC-8A78-50F28D5EF71C}" srcId="{756C0150-21D2-4143-B83F-5F5480F5B04B}" destId="{571CE1CE-E114-460F-8179-2BC8CCBDE636}" srcOrd="0" destOrd="0" parTransId="{B58CDBB2-6569-4E52-81F0-3A4B4655BA51}" sibTransId="{7FA2C45A-7AFA-409E-9408-E0E7909B3BA3}"/>
    <dgm:cxn modelId="{5781ED81-1EFA-43CA-92BA-42D2793B1F44}" srcId="{3E0D00DB-FABA-4E17-8359-26B01E2E6CFF}" destId="{E4E0830A-3B22-43B9-BFA3-35728FFDD0DC}" srcOrd="1" destOrd="0" parTransId="{951028E9-28DC-4541-98C8-2995C71F4E2C}" sibTransId="{27E91AB6-8975-462B-827A-D37FFFB4E9DE}"/>
    <dgm:cxn modelId="{84D3D686-60F2-4D15-B7D0-0245A1DA0C89}" type="presOf" srcId="{86A6CAF4-D8F4-4637-AC6F-D00CEF68E145}" destId="{4B868E55-2D11-4D6A-8E5C-1EB27B21D580}" srcOrd="0" destOrd="2" presId="urn:microsoft.com/office/officeart/2005/8/layout/hList1"/>
    <dgm:cxn modelId="{73BD01AE-5AF4-4270-84ED-F82DB10D1D2B}" type="presOf" srcId="{756C0150-21D2-4143-B83F-5F5480F5B04B}" destId="{247895CC-3B54-41F3-98B5-0E171F8D81BF}" srcOrd="0" destOrd="0" presId="urn:microsoft.com/office/officeart/2005/8/layout/hList1"/>
    <dgm:cxn modelId="{A04B30BF-82CC-4F3C-957B-60CCF44045C8}" srcId="{FF092554-9784-422E-8A48-8F3C269242C3}" destId="{756C0150-21D2-4143-B83F-5F5480F5B04B}" srcOrd="0" destOrd="0" parTransId="{4451F05F-FC2D-476D-8DE6-982AAAE17F6B}" sibTransId="{A09BBAD3-CA95-4A22-BAA3-495172DEBFF4}"/>
    <dgm:cxn modelId="{73C5A8C4-58BF-455D-9CCE-F5BB4A205103}" srcId="{7FDD3E96-E108-403E-ABB9-1677B0AD6BF4}" destId="{2BCDC39A-BF73-4A4C-8A6C-442301B5E7E9}" srcOrd="2" destOrd="0" parTransId="{EE347196-EC04-4EFC-9025-2846CF8D7C91}" sibTransId="{474CFBAE-85DE-43F0-9A18-3DFB5683129A}"/>
    <dgm:cxn modelId="{E5F2BFD6-3567-4ED9-B126-A30E33D07727}" type="presOf" srcId="{B183514B-01A6-4C66-BBED-B8A7C19CF25B}" destId="{101AB16B-317C-43B9-A7A0-A1A8A64F3469}" srcOrd="0" destOrd="1" presId="urn:microsoft.com/office/officeart/2005/8/layout/hList1"/>
    <dgm:cxn modelId="{5435D4DF-EB81-46EB-B6A2-65D48ECD8652}" type="presOf" srcId="{E4E0830A-3B22-43B9-BFA3-35728FFDD0DC}" destId="{F2F2F282-0E7D-4489-B53C-45632B8515DC}" srcOrd="0" destOrd="1" presId="urn:microsoft.com/office/officeart/2005/8/layout/hList1"/>
    <dgm:cxn modelId="{73A17D45-AA02-45C0-AF58-C75B1C996628}" type="presParOf" srcId="{ABD779F5-1B35-4623-954F-957ADD3E108A}" destId="{DFA76C2A-1335-44AA-AF6C-F0B79900D6AE}" srcOrd="0" destOrd="0" presId="urn:microsoft.com/office/officeart/2005/8/layout/hList1"/>
    <dgm:cxn modelId="{AA3829C4-D232-42E9-AFE3-0C1F46A7922C}" type="presParOf" srcId="{DFA76C2A-1335-44AA-AF6C-F0B79900D6AE}" destId="{247895CC-3B54-41F3-98B5-0E171F8D81BF}" srcOrd="0" destOrd="0" presId="urn:microsoft.com/office/officeart/2005/8/layout/hList1"/>
    <dgm:cxn modelId="{33AE9E40-3E45-4107-BEBE-188666256480}" type="presParOf" srcId="{DFA76C2A-1335-44AA-AF6C-F0B79900D6AE}" destId="{4B868E55-2D11-4D6A-8E5C-1EB27B21D580}" srcOrd="1" destOrd="0" presId="urn:microsoft.com/office/officeart/2005/8/layout/hList1"/>
    <dgm:cxn modelId="{C71A4257-4AB9-4136-B210-90F4E8C52371}" type="presParOf" srcId="{ABD779F5-1B35-4623-954F-957ADD3E108A}" destId="{7BDAAFF7-A84F-4DAA-B395-8ABC6952CE6B}" srcOrd="1" destOrd="0" presId="urn:microsoft.com/office/officeart/2005/8/layout/hList1"/>
    <dgm:cxn modelId="{48758324-DC20-4884-8394-7289769271EA}" type="presParOf" srcId="{ABD779F5-1B35-4623-954F-957ADD3E108A}" destId="{FD909468-9A55-4B1A-9DEF-5B00663252CC}" srcOrd="2" destOrd="0" presId="urn:microsoft.com/office/officeart/2005/8/layout/hList1"/>
    <dgm:cxn modelId="{E791272F-216C-4288-8FCF-0296681D07DE}" type="presParOf" srcId="{FD909468-9A55-4B1A-9DEF-5B00663252CC}" destId="{CDA4D295-5EC2-420E-BF3D-BD8112341B3F}" srcOrd="0" destOrd="0" presId="urn:microsoft.com/office/officeart/2005/8/layout/hList1"/>
    <dgm:cxn modelId="{B708FAC5-C4DB-40E9-8C98-2B09E8990C8C}" type="presParOf" srcId="{FD909468-9A55-4B1A-9DEF-5B00663252CC}" destId="{101AB16B-317C-43B9-A7A0-A1A8A64F3469}" srcOrd="1" destOrd="0" presId="urn:microsoft.com/office/officeart/2005/8/layout/hList1"/>
    <dgm:cxn modelId="{49570797-733F-4336-9D8D-5538E3D39129}" type="presParOf" srcId="{ABD779F5-1B35-4623-954F-957ADD3E108A}" destId="{2A0B9B66-0862-4CB0-8FDF-0CEED71616FF}" srcOrd="3" destOrd="0" presId="urn:microsoft.com/office/officeart/2005/8/layout/hList1"/>
    <dgm:cxn modelId="{51922B9F-56B4-483D-A6A8-E88D9EC3A463}" type="presParOf" srcId="{ABD779F5-1B35-4623-954F-957ADD3E108A}" destId="{5AD856EA-48FA-420C-A7FA-C959FED0B30A}" srcOrd="4" destOrd="0" presId="urn:microsoft.com/office/officeart/2005/8/layout/hList1"/>
    <dgm:cxn modelId="{93E5153B-102B-4F14-A430-B8A9BA10385E}" type="presParOf" srcId="{5AD856EA-48FA-420C-A7FA-C959FED0B30A}" destId="{6E06C66C-1FAF-4C36-A413-590024F2364F}" srcOrd="0" destOrd="0" presId="urn:microsoft.com/office/officeart/2005/8/layout/hList1"/>
    <dgm:cxn modelId="{894D0B1B-6374-49BC-822E-FDB018EA9C87}" type="presParOf" srcId="{5AD856EA-48FA-420C-A7FA-C959FED0B30A}" destId="{F2F2F282-0E7D-4489-B53C-45632B8515DC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7895CC-3B54-41F3-98B5-0E171F8D81BF}">
      <dsp:nvSpPr>
        <dsp:cNvPr id="0" name=""/>
        <dsp:cNvSpPr/>
      </dsp:nvSpPr>
      <dsp:spPr>
        <a:xfrm>
          <a:off x="0" y="44569"/>
          <a:ext cx="3025499" cy="869606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Feasibility Analysis</a:t>
          </a:r>
        </a:p>
      </dsp:txBody>
      <dsp:txXfrm>
        <a:off x="0" y="44569"/>
        <a:ext cx="3025499" cy="869606"/>
      </dsp:txXfrm>
    </dsp:sp>
    <dsp:sp modelId="{4B868E55-2D11-4D6A-8E5C-1EB27B21D580}">
      <dsp:nvSpPr>
        <dsp:cNvPr id="0" name=""/>
        <dsp:cNvSpPr/>
      </dsp:nvSpPr>
      <dsp:spPr>
        <a:xfrm>
          <a:off x="3103" y="1528500"/>
          <a:ext cx="3025499" cy="3231272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000" kern="1200" dirty="0"/>
            <a:t>Support Technologies like React,TypeScript.</a:t>
          </a: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000" kern="1200" dirty="0"/>
            <a:t>User friendly Design.</a:t>
          </a: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000" kern="1200" dirty="0"/>
            <a:t>Increase  citizen Engagement and trust in governance.</a:t>
          </a: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000" kern="1200" dirty="0"/>
            <a:t>Scalability Plans ensure long term growth.</a:t>
          </a:r>
          <a:endParaRPr lang="en-US" sz="2000" kern="1200" dirty="0"/>
        </a:p>
      </dsp:txBody>
      <dsp:txXfrm>
        <a:off x="3103" y="1528500"/>
        <a:ext cx="3025499" cy="3231272"/>
      </dsp:txXfrm>
    </dsp:sp>
    <dsp:sp modelId="{CDA4D295-5EC2-420E-BF3D-BD8112341B3F}">
      <dsp:nvSpPr>
        <dsp:cNvPr id="0" name=""/>
        <dsp:cNvSpPr/>
      </dsp:nvSpPr>
      <dsp:spPr>
        <a:xfrm>
          <a:off x="3429360" y="36377"/>
          <a:ext cx="3025499" cy="869606"/>
        </a:xfrm>
        <a:prstGeom prst="rect">
          <a:avLst/>
        </a:prstGeom>
        <a:solidFill>
          <a:schemeClr val="accent3">
            <a:hueOff val="5625132"/>
            <a:satOff val="-8440"/>
            <a:lumOff val="-1373"/>
            <a:alphaOff val="0"/>
          </a:schemeClr>
        </a:solidFill>
        <a:ln w="9525" cap="flat" cmpd="sng" algn="ctr">
          <a:solidFill>
            <a:schemeClr val="accent3">
              <a:hueOff val="5625132"/>
              <a:satOff val="-8440"/>
              <a:lumOff val="-1373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Potential Challenges and Risk</a:t>
          </a:r>
        </a:p>
      </dsp:txBody>
      <dsp:txXfrm>
        <a:off x="3429360" y="36377"/>
        <a:ext cx="3025499" cy="869606"/>
      </dsp:txXfrm>
    </dsp:sp>
    <dsp:sp modelId="{101AB16B-317C-43B9-A7A0-A1A8A64F3469}">
      <dsp:nvSpPr>
        <dsp:cNvPr id="0" name=""/>
        <dsp:cNvSpPr/>
      </dsp:nvSpPr>
      <dsp:spPr>
        <a:xfrm>
          <a:off x="3452172" y="1528500"/>
          <a:ext cx="3025499" cy="3231272"/>
        </a:xfrm>
        <a:prstGeom prst="rect">
          <a:avLst/>
        </a:prstGeom>
        <a:solidFill>
          <a:schemeClr val="accent3">
            <a:tint val="40000"/>
            <a:alpha val="90000"/>
            <a:hueOff val="5358425"/>
            <a:satOff val="-6896"/>
            <a:lumOff val="-537"/>
            <a:alphaOff val="0"/>
          </a:schemeClr>
        </a:solidFill>
        <a:ln w="9525" cap="flat" cmpd="sng" algn="ctr">
          <a:solidFill>
            <a:schemeClr val="accent3">
              <a:tint val="40000"/>
              <a:alpha val="90000"/>
              <a:hueOff val="5358425"/>
              <a:satOff val="-6896"/>
              <a:lumOff val="-537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000" kern="1200" dirty="0"/>
            <a:t>Delay or lack of action from authorities may reduce trust.</a:t>
          </a: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000" kern="1200" dirty="0"/>
            <a:t>Sensitive user data might be at risk.</a:t>
          </a: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000" kern="1200" dirty="0"/>
            <a:t>Risk of false reporting or spam or misuse of platform.</a:t>
          </a: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000" kern="1200" dirty="0"/>
            <a:t>Data Management </a:t>
          </a:r>
          <a:endParaRPr lang="en-US" sz="2000" kern="1200" dirty="0"/>
        </a:p>
      </dsp:txBody>
      <dsp:txXfrm>
        <a:off x="3452172" y="1528500"/>
        <a:ext cx="3025499" cy="3231272"/>
      </dsp:txXfrm>
    </dsp:sp>
    <dsp:sp modelId="{6E06C66C-1FAF-4C36-A413-590024F2364F}">
      <dsp:nvSpPr>
        <dsp:cNvPr id="0" name=""/>
        <dsp:cNvSpPr/>
      </dsp:nvSpPr>
      <dsp:spPr>
        <a:xfrm>
          <a:off x="6904345" y="36377"/>
          <a:ext cx="3025499" cy="869606"/>
        </a:xfrm>
        <a:prstGeom prst="rect">
          <a:avLst/>
        </a:prstGeom>
        <a:solidFill>
          <a:schemeClr val="accent3">
            <a:hueOff val="11250264"/>
            <a:satOff val="-16880"/>
            <a:lumOff val="-2745"/>
            <a:alphaOff val="0"/>
          </a:schemeClr>
        </a:solidFill>
        <a:ln w="9525" cap="flat" cmpd="sng" algn="ctr">
          <a:solidFill>
            <a:schemeClr val="accent3">
              <a:hueOff val="11250264"/>
              <a:satOff val="-16880"/>
              <a:lumOff val="-2745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Strategies to overcome Challenges</a:t>
          </a:r>
        </a:p>
      </dsp:txBody>
      <dsp:txXfrm>
        <a:off x="6904345" y="36377"/>
        <a:ext cx="3025499" cy="869606"/>
      </dsp:txXfrm>
    </dsp:sp>
    <dsp:sp modelId="{F2F2F282-0E7D-4489-B53C-45632B8515DC}">
      <dsp:nvSpPr>
        <dsp:cNvPr id="0" name=""/>
        <dsp:cNvSpPr/>
      </dsp:nvSpPr>
      <dsp:spPr>
        <a:xfrm>
          <a:off x="6901242" y="1528500"/>
          <a:ext cx="3025499" cy="3231272"/>
        </a:xfrm>
        <a:prstGeom prst="rect">
          <a:avLst/>
        </a:prstGeom>
        <a:solidFill>
          <a:schemeClr val="accent3">
            <a:tint val="40000"/>
            <a:alpha val="90000"/>
            <a:hueOff val="10716850"/>
            <a:satOff val="-13793"/>
            <a:lumOff val="-1075"/>
            <a:alphaOff val="0"/>
          </a:schemeClr>
        </a:solidFill>
        <a:ln w="9525" cap="flat" cmpd="sng" algn="ctr">
          <a:solidFill>
            <a:schemeClr val="accent3">
              <a:tint val="40000"/>
              <a:alpha val="90000"/>
              <a:hueOff val="10716850"/>
              <a:satOff val="-13793"/>
              <a:lumOff val="-1075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000" kern="1200" dirty="0"/>
            <a:t>Provide admin dashboard for efficient issue management.</a:t>
          </a: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000" kern="1200" dirty="0"/>
            <a:t>Secure authentication and clear privacy policy to build trust.</a:t>
          </a: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000" kern="1200" dirty="0"/>
            <a:t>Implement verification and reporting mechanism to maintain integrity.</a:t>
          </a:r>
          <a:endParaRPr lang="en-US" sz="2000" kern="1200" dirty="0"/>
        </a:p>
      </dsp:txBody>
      <dsp:txXfrm>
        <a:off x="6901242" y="1528500"/>
        <a:ext cx="3025499" cy="323127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9/19/2025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pPr/>
              <a:t>9/19/2025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pPr/>
              <a:t>9/19/2025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pPr/>
              <a:t>9/19/2025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pPr/>
              <a:t>9/19/2025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pPr/>
              <a:t>9/19/2025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pPr/>
              <a:t>9/19/2025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pPr/>
              <a:t>9/19/2025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pPr/>
              <a:t>9/19/2025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pPr/>
              <a:t>9/19/2025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pPr/>
              <a:t>9/19/2025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pPr/>
              <a:t>9/19/2025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pPr/>
              <a:t>9/19/2025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4.png" /><Relationship Id="rId4" Type="http://schemas.openxmlformats.org/officeDocument/2006/relationships/image" Target="../media/image3.png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5.jpg" 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 /><Relationship Id="rId3" Type="http://schemas.openxmlformats.org/officeDocument/2006/relationships/image" Target="../media/image2.png" /><Relationship Id="rId7" Type="http://schemas.openxmlformats.org/officeDocument/2006/relationships/diagramColors" Target="../diagrams/colors1.xml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2.xml" /><Relationship Id="rId6" Type="http://schemas.openxmlformats.org/officeDocument/2006/relationships/diagramQuickStyle" Target="../diagrams/quickStyle1.xml" /><Relationship Id="rId5" Type="http://schemas.openxmlformats.org/officeDocument/2006/relationships/diagramLayout" Target="../diagrams/layout1.xml" /><Relationship Id="rId4" Type="http://schemas.openxmlformats.org/officeDocument/2006/relationships/diagramData" Target="../diagrams/data1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ocker.com/blog/docker-for-web-developers/" TargetMode="External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2.xml" /><Relationship Id="rId5" Type="http://schemas.openxmlformats.org/officeDocument/2006/relationships/hyperlink" Target="https://www.irjmets.com/uploadedfiles/paper/issue_4_april_2025/73659/final/fin_irjmets1745604791.pdf" TargetMode="External" /><Relationship Id="rId4" Type="http://schemas.openxmlformats.org/officeDocument/2006/relationships/image" Target="../media/image2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590733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2025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1441132"/>
            <a:ext cx="7860992" cy="5416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SIH 25031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</a:p>
          <a:p>
            <a:pPr marL="285750" indent="-285750" algn="just">
              <a:lnSpc>
                <a:spcPct val="200000"/>
              </a:lnSpc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Crowdsourced Civic lssue Reporting and Resolution System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Clean &amp; Green technology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–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Civic Wave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JAN DRISTI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1179965"/>
            <a:ext cx="5971593" cy="21236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</a:t>
            </a:r>
            <a:r>
              <a:rPr lang="en-US" sz="2000" b="1" u="sng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oposed </a:t>
            </a:r>
            <a:r>
              <a:rPr lang="en-US" sz="2000" b="1" u="sng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Solution:</a:t>
            </a:r>
            <a:endParaRPr lang="en-US" sz="2000" b="1" u="sng" dirty="0">
              <a:solidFill>
                <a:srgbClr val="002060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b="1"/>
              <a:t>Easy Reporting:</a:t>
            </a:r>
            <a:r>
              <a:rPr lang="en-US" sz="1400"/>
              <a:t> Citizens can quickly report civic issues with photos and location details.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b="1"/>
              <a:t>Live Tracking:</a:t>
            </a:r>
            <a:r>
              <a:rPr lang="en-US" sz="1400"/>
              <a:t> Users can track the progress of their complaints in real time.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b="1"/>
              <a:t>Regular Updates:</a:t>
            </a:r>
            <a:r>
              <a:rPr lang="en-US" sz="1400"/>
              <a:t> Notifications keep people informed about issue status.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b="1"/>
              <a:t>Gamification:</a:t>
            </a:r>
            <a:r>
              <a:rPr lang="en-US" sz="1400"/>
              <a:t> Badges and rewards motivate citizens to take part actively.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b="1"/>
              <a:t>User-Friendly Platform:</a:t>
            </a:r>
            <a:r>
              <a:rPr lang="en-US" sz="1400"/>
              <a:t> Simple and accessible design for everyone.</a:t>
            </a:r>
          </a:p>
          <a:p>
            <a:pPr marL="342900" indent="-342900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+mj-lt"/>
              </a:rPr>
              <a:t>Civic</a:t>
            </a:r>
          </a:p>
          <a:p>
            <a:pPr algn="ctr"/>
            <a:r>
              <a:rPr lang="en-IN" b="1" dirty="0">
                <a:latin typeface="+mj-lt"/>
              </a:rPr>
              <a:t>Wave</a:t>
            </a:r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8"/>
          <p:cNvSpPr txBox="1">
            <a:spLocks noChangeArrowheads="1"/>
          </p:cNvSpPr>
          <p:nvPr/>
        </p:nvSpPr>
        <p:spPr bwMode="auto">
          <a:xfrm>
            <a:off x="0" y="2832691"/>
            <a:ext cx="6078894" cy="58785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Problem Addressed: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1400"/>
              <a:t>Lack of easy, real-time reporting for civic issues.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1400"/>
              <a:t>Delays and negligence in addressing complaints.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1400"/>
              <a:t>Low citizen engagement due to lack of updates and trust.</a:t>
            </a:r>
          </a:p>
          <a:p>
            <a:endParaRPr lang="en-GB" sz="1400" dirty="0"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Wingdings" pitchFamily="2" charset="2"/>
              <a:buChar char="v"/>
            </a:pPr>
            <a:r>
              <a:rPr lang="en-GB" sz="20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Uniqueness and Innovation </a:t>
            </a:r>
            <a:r>
              <a:rPr lang="en-GB" sz="2000" b="1" u="sng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of solution:</a:t>
            </a:r>
            <a:endParaRPr lang="en-GB" sz="2000" b="1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GB" sz="1400" dirty="0">
                <a:latin typeface="+mn-lt"/>
                <a:cs typeface="Arial" pitchFamily="34" charset="0"/>
              </a:rPr>
              <a:t>The platform provides real-time updates on issue status, enabling transparent tracking for both citizens and authorities.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GB" sz="1400" dirty="0">
                <a:latin typeface="+mn-lt"/>
                <a:cs typeface="Arial" pitchFamily="34" charset="0"/>
              </a:rPr>
              <a:t>It  offers  badges and progress tracking to motivate and engage citizens regularly.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GB" sz="1400" dirty="0">
                <a:latin typeface="+mn-lt"/>
                <a:cs typeface="Arial" pitchFamily="34" charset="0"/>
              </a:rPr>
              <a:t>Real time status updates and monitoring.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GB" sz="1400" dirty="0">
                <a:latin typeface="+mn-lt"/>
                <a:cs typeface="Arial" pitchFamily="34" charset="0"/>
              </a:rPr>
              <a:t>Promotes engagement  by simplifying issue reporting with images,various categories and authentication features.</a:t>
            </a:r>
          </a:p>
          <a:p>
            <a:pPr marL="342900" indent="-342900"/>
            <a:endParaRPr lang="en-GB" sz="1400" dirty="0">
              <a:latin typeface="Arial" pitchFamily="34" charset="0"/>
              <a:cs typeface="Arial" pitchFamily="34" charset="0"/>
            </a:endParaRPr>
          </a:p>
          <a:p>
            <a:pPr marL="342900" indent="-342900"/>
            <a:endParaRPr lang="en-GB" sz="1400" b="1" dirty="0">
              <a:latin typeface="Arial" pitchFamily="34" charset="0"/>
              <a:cs typeface="Arial" pitchFamily="34" charset="0"/>
            </a:endParaRPr>
          </a:p>
          <a:p>
            <a:pPr marL="342900" indent="-342900"/>
            <a:endParaRPr lang="en-GB" sz="1400" b="1" dirty="0">
              <a:latin typeface="Arial" pitchFamily="34" charset="0"/>
              <a:cs typeface="Arial" pitchFamily="34" charset="0"/>
            </a:endParaRPr>
          </a:p>
          <a:p>
            <a:pPr marL="342900" indent="-342900"/>
            <a:endParaRPr lang="en-GB" sz="1400" b="1" dirty="0">
              <a:latin typeface="Arial" pitchFamily="34" charset="0"/>
              <a:cs typeface="Arial" pitchFamily="34" charset="0"/>
            </a:endParaRPr>
          </a:p>
          <a:p>
            <a:pPr marL="342900" indent="-342900"/>
            <a:endParaRPr lang="en-GB" sz="1400" b="1" dirty="0">
              <a:latin typeface="Arial" pitchFamily="34" charset="0"/>
              <a:cs typeface="Arial" pitchFamily="34" charset="0"/>
            </a:endParaRPr>
          </a:p>
          <a:p>
            <a:pPr marL="342900" indent="-342900"/>
            <a:endParaRPr lang="en-GB" sz="1400" b="1" dirty="0">
              <a:latin typeface="Arial" pitchFamily="34" charset="0"/>
              <a:cs typeface="Arial" pitchFamily="34" charset="0"/>
            </a:endParaRPr>
          </a:p>
          <a:p>
            <a:pPr marL="342900" indent="-342900"/>
            <a:endParaRPr lang="en-GB" sz="1400" b="1" dirty="0">
              <a:latin typeface="Arial" pitchFamily="34" charset="0"/>
              <a:cs typeface="Arial" pitchFamily="34" charset="0"/>
            </a:endParaRPr>
          </a:p>
          <a:p>
            <a:pPr marL="342900" indent="-342900"/>
            <a:endParaRPr lang="en-GB" sz="1400" b="1" dirty="0">
              <a:latin typeface="Arial" pitchFamily="34" charset="0"/>
              <a:cs typeface="Arial" pitchFamily="34" charset="0"/>
            </a:endParaRPr>
          </a:p>
          <a:p>
            <a:pPr marL="342900" indent="-342900"/>
            <a:endParaRPr lang="en-GB" sz="1400" b="1" dirty="0">
              <a:latin typeface="Arial" pitchFamily="34" charset="0"/>
              <a:cs typeface="Arial" pitchFamily="34" charset="0"/>
            </a:endParaRPr>
          </a:p>
          <a:p>
            <a:pPr marL="342900" indent="-342900"/>
            <a:endParaRPr lang="en-GB" sz="1400" b="1" dirty="0">
              <a:latin typeface="Arial" pitchFamily="34" charset="0"/>
              <a:cs typeface="Arial" pitchFamily="34" charset="0"/>
            </a:endParaRPr>
          </a:p>
          <a:p>
            <a:pPr marL="342900" indent="-342900"/>
            <a:endParaRPr lang="en-GB" sz="1400" b="1" dirty="0">
              <a:latin typeface="Arial" pitchFamily="34" charset="0"/>
              <a:cs typeface="Arial" pitchFamily="34" charset="0"/>
            </a:endParaRPr>
          </a:p>
          <a:p>
            <a:pPr marL="342900" indent="-342900"/>
            <a:endParaRPr lang="en-GB" sz="1400" b="1" dirty="0">
              <a:latin typeface="Arial" pitchFamily="34" charset="0"/>
              <a:cs typeface="Arial" pitchFamily="34" charset="0"/>
            </a:endParaRPr>
          </a:p>
          <a:p>
            <a:pPr marL="342900" indent="-342900"/>
            <a:endParaRPr lang="en-US" sz="1400" b="1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4408CDC-D5A8-33A2-AEDD-FEA7D1A2B5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5517" y="1287258"/>
            <a:ext cx="4846882" cy="2038537"/>
          </a:xfrm>
          <a:prstGeom prst="rect">
            <a:avLst/>
          </a:prstGeom>
          <a:effectLst>
            <a:glow rad="63500">
              <a:schemeClr val="tx1">
                <a:alpha val="40000"/>
              </a:schemeClr>
            </a:glow>
            <a:softEdge rad="12700"/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7389915-A1C7-628E-BB05-6F67E3D3902F}"/>
              </a:ext>
            </a:extLst>
          </p:cNvPr>
          <p:cNvSpPr txBox="1"/>
          <p:nvPr/>
        </p:nvSpPr>
        <p:spPr>
          <a:xfrm>
            <a:off x="7892338" y="1012535"/>
            <a:ext cx="22091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u="sng">
                <a:solidFill>
                  <a:srgbClr val="002060"/>
                </a:solidFill>
                <a:latin typeface="+mn-lt"/>
              </a:rPr>
              <a:t>Citizen portal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F84DCE7-F3BC-9C97-0D8A-99BF0A4BEE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5516" y="3730416"/>
            <a:ext cx="4846883" cy="2587381"/>
          </a:xfrm>
          <a:prstGeom prst="rect">
            <a:avLst/>
          </a:prstGeom>
          <a:effectLst>
            <a:glow rad="63500">
              <a:schemeClr val="tx1">
                <a:alpha val="40000"/>
              </a:schemeClr>
            </a:glow>
            <a:softEdge rad="12700"/>
          </a:effec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43C64DD-585E-8227-611F-CC6BC99F2965}"/>
              </a:ext>
            </a:extLst>
          </p:cNvPr>
          <p:cNvSpPr txBox="1"/>
          <p:nvPr/>
        </p:nvSpPr>
        <p:spPr>
          <a:xfrm>
            <a:off x="8136853" y="3442545"/>
            <a:ext cx="21434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u="sng">
                <a:solidFill>
                  <a:srgbClr val="002060"/>
                </a:solidFill>
              </a:rPr>
              <a:t>Government portal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86431" y="1179965"/>
            <a:ext cx="4039341" cy="553997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itchFamily="34" charset="0"/>
              <a:buChar char="•"/>
            </a:pPr>
            <a:r>
              <a:rPr lang="en-IN" sz="1400" b="1" dirty="0">
                <a:latin typeface="Arial" pitchFamily="34" charset="0"/>
                <a:cs typeface="Arial" pitchFamily="34" charset="0"/>
              </a:rPr>
              <a:t>Data Storage</a:t>
            </a:r>
          </a:p>
          <a:p>
            <a:pPr marL="1257300" lvl="2" indent="-342900" algn="just">
              <a:buFont typeface="Arial" pitchFamily="34" charset="0"/>
              <a:buChar char="•"/>
            </a:pPr>
            <a:r>
              <a:rPr lang="en-IN" sz="1400" dirty="0">
                <a:latin typeface="Arial" pitchFamily="34" charset="0"/>
                <a:cs typeface="Arial" pitchFamily="34" charset="0"/>
              </a:rPr>
              <a:t>PostgreSQL</a:t>
            </a:r>
          </a:p>
          <a:p>
            <a:pPr marL="1257300" lvl="2" indent="-342900" algn="just">
              <a:buFont typeface="Arial" pitchFamily="34" charset="0"/>
              <a:buChar char="•"/>
            </a:pPr>
            <a:r>
              <a:rPr lang="en-IN" sz="1400" dirty="0" err="1">
                <a:latin typeface="Arial" pitchFamily="34" charset="0"/>
                <a:cs typeface="Arial" pitchFamily="34" charset="0"/>
              </a:rPr>
              <a:t>Sequelize</a:t>
            </a:r>
            <a:r>
              <a:rPr lang="en-IN" sz="1400" dirty="0">
                <a:latin typeface="Arial" pitchFamily="34" charset="0"/>
                <a:cs typeface="Arial" pitchFamily="34" charset="0"/>
              </a:rPr>
              <a:t> ORM</a:t>
            </a:r>
          </a:p>
          <a:p>
            <a:pPr marL="1257300" lvl="2" indent="-342900" algn="just">
              <a:buFont typeface="Arial" pitchFamily="34" charset="0"/>
              <a:buChar char="•"/>
            </a:pPr>
            <a:r>
              <a:rPr lang="en-IN" sz="1400" dirty="0">
                <a:latin typeface="Arial" pitchFamily="34" charset="0"/>
                <a:cs typeface="Arial" pitchFamily="34" charset="0"/>
              </a:rPr>
              <a:t>Multer</a:t>
            </a:r>
            <a:endParaRPr lang="en-IN" sz="1400" b="1" dirty="0"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itchFamily="34" charset="0"/>
              <a:buChar char="•"/>
            </a:pPr>
            <a:r>
              <a:rPr lang="en-IN" sz="1400" b="1" dirty="0">
                <a:latin typeface="Arial" pitchFamily="34" charset="0"/>
                <a:cs typeface="Arial" pitchFamily="34" charset="0"/>
              </a:rPr>
              <a:t>Backend</a:t>
            </a:r>
          </a:p>
          <a:p>
            <a:pPr marL="1257300" lvl="2" indent="-342900" algn="just">
              <a:buFont typeface="Arial" pitchFamily="34" charset="0"/>
              <a:buChar char="•"/>
            </a:pPr>
            <a:r>
              <a:rPr lang="en-IN" sz="1400" dirty="0">
                <a:latin typeface="Arial" pitchFamily="34" charset="0"/>
                <a:cs typeface="Arial" pitchFamily="34" charset="0"/>
              </a:rPr>
              <a:t>Node.js</a:t>
            </a:r>
          </a:p>
          <a:p>
            <a:pPr marL="1257300" lvl="2" indent="-342900" algn="just">
              <a:buFont typeface="Arial" pitchFamily="34" charset="0"/>
              <a:buChar char="•"/>
            </a:pPr>
            <a:r>
              <a:rPr lang="en-IN" sz="1400" dirty="0">
                <a:latin typeface="Arial" pitchFamily="34" charset="0"/>
                <a:cs typeface="Arial" pitchFamily="34" charset="0"/>
              </a:rPr>
              <a:t>Express.js</a:t>
            </a:r>
          </a:p>
          <a:p>
            <a:pPr marL="1257300" lvl="2" indent="-342900" algn="just">
              <a:buFont typeface="Arial" pitchFamily="34" charset="0"/>
              <a:buChar char="•"/>
            </a:pPr>
            <a:r>
              <a:rPr lang="en-IN" sz="1400" dirty="0">
                <a:latin typeface="Arial" pitchFamily="34" charset="0"/>
                <a:cs typeface="Arial" pitchFamily="34" charset="0"/>
              </a:rPr>
              <a:t>Socket.io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IN" sz="1400" b="1" dirty="0">
                <a:latin typeface="Arial" pitchFamily="34" charset="0"/>
                <a:cs typeface="Arial" pitchFamily="34" charset="0"/>
              </a:rPr>
              <a:t>Frontend Interface</a:t>
            </a:r>
          </a:p>
          <a:p>
            <a:pPr marL="1257300" lvl="2" indent="-342900" algn="just">
              <a:buFont typeface="Arial" pitchFamily="34" charset="0"/>
              <a:buChar char="•"/>
            </a:pPr>
            <a:r>
              <a:rPr lang="en-IN" sz="1400" dirty="0">
                <a:latin typeface="Arial" pitchFamily="34" charset="0"/>
                <a:cs typeface="Arial" pitchFamily="34" charset="0"/>
              </a:rPr>
              <a:t>Tailwind CSS</a:t>
            </a:r>
          </a:p>
          <a:p>
            <a:pPr marL="1257300" lvl="2" indent="-342900" algn="just">
              <a:buFont typeface="Arial" pitchFamily="34" charset="0"/>
              <a:buChar char="•"/>
            </a:pPr>
            <a:r>
              <a:rPr lang="en-IN" sz="1400" dirty="0">
                <a:latin typeface="Arial" pitchFamily="34" charset="0"/>
                <a:cs typeface="Arial" pitchFamily="34" charset="0"/>
              </a:rPr>
              <a:t>React 18 </a:t>
            </a:r>
          </a:p>
          <a:p>
            <a:pPr marL="1257300" lvl="2" indent="-342900" algn="just">
              <a:buFont typeface="Arial" pitchFamily="34" charset="0"/>
              <a:buChar char="•"/>
            </a:pPr>
            <a:r>
              <a:rPr lang="en-IN" sz="1400" dirty="0">
                <a:latin typeface="Arial" pitchFamily="34" charset="0"/>
                <a:cs typeface="Arial" pitchFamily="34" charset="0"/>
              </a:rPr>
              <a:t>Leaflet</a:t>
            </a:r>
          </a:p>
          <a:p>
            <a:pPr marL="1257300" lvl="2" indent="-342900" algn="just">
              <a:buFont typeface="Arial" pitchFamily="34" charset="0"/>
              <a:buChar char="•"/>
            </a:pPr>
            <a:r>
              <a:rPr lang="en-IN" sz="1400" dirty="0">
                <a:latin typeface="Arial" pitchFamily="34" charset="0"/>
                <a:cs typeface="Arial" pitchFamily="34" charset="0"/>
              </a:rPr>
              <a:t>React </a:t>
            </a:r>
            <a:r>
              <a:rPr lang="en-IN" sz="1400" dirty="0" err="1">
                <a:latin typeface="Arial" pitchFamily="34" charset="0"/>
                <a:cs typeface="Arial" pitchFamily="34" charset="0"/>
              </a:rPr>
              <a:t>Query,React</a:t>
            </a:r>
            <a:r>
              <a:rPr lang="en-IN" sz="1400" dirty="0">
                <a:latin typeface="Arial" pitchFamily="34" charset="0"/>
                <a:cs typeface="Arial" pitchFamily="34" charset="0"/>
              </a:rPr>
              <a:t> router 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IN" sz="1400" b="1" dirty="0">
                <a:latin typeface="Arial" pitchFamily="34" charset="0"/>
                <a:cs typeface="Arial" pitchFamily="34" charset="0"/>
              </a:rPr>
              <a:t>Infrastructure &amp; Services</a:t>
            </a:r>
          </a:p>
          <a:p>
            <a:pPr marL="1257300" lvl="2" indent="-342900" algn="just">
              <a:buFont typeface="Arial" pitchFamily="34" charset="0"/>
              <a:buChar char="•"/>
            </a:pPr>
            <a:r>
              <a:rPr lang="en-IN" sz="1400" dirty="0">
                <a:latin typeface="Arial" pitchFamily="34" charset="0"/>
                <a:cs typeface="Arial" pitchFamily="34" charset="0"/>
              </a:rPr>
              <a:t>AWS S3</a:t>
            </a:r>
          </a:p>
          <a:p>
            <a:pPr marL="1257300" lvl="2" indent="-342900" algn="just">
              <a:buFont typeface="Arial" pitchFamily="34" charset="0"/>
              <a:buChar char="•"/>
            </a:pPr>
            <a:r>
              <a:rPr lang="en-IN" sz="1400" dirty="0">
                <a:latin typeface="Arial" pitchFamily="34" charset="0"/>
                <a:cs typeface="Arial" pitchFamily="34" charset="0"/>
              </a:rPr>
              <a:t>Docker</a:t>
            </a:r>
          </a:p>
          <a:p>
            <a:pPr marL="1257300" lvl="2" indent="-342900" algn="just">
              <a:buFont typeface="Arial" pitchFamily="34" charset="0"/>
              <a:buChar char="•"/>
            </a:pPr>
            <a:r>
              <a:rPr lang="en-IN" sz="1400" dirty="0" err="1">
                <a:latin typeface="Arial" pitchFamily="34" charset="0"/>
                <a:cs typeface="Arial" pitchFamily="34" charset="0"/>
              </a:rPr>
              <a:t>Twilio</a:t>
            </a:r>
            <a:endParaRPr lang="en-IN" sz="1400" dirty="0">
              <a:latin typeface="Arial" pitchFamily="34" charset="0"/>
              <a:cs typeface="Arial" pitchFamily="34" charset="0"/>
            </a:endParaRPr>
          </a:p>
          <a:p>
            <a:pPr marL="1257300" lvl="2" indent="-342900" algn="just">
              <a:buFont typeface="Arial" pitchFamily="34" charset="0"/>
              <a:buChar char="•"/>
            </a:pPr>
            <a:r>
              <a:rPr lang="en-IN" sz="1400" dirty="0" err="1">
                <a:latin typeface="Arial" pitchFamily="34" charset="0"/>
                <a:cs typeface="Arial" pitchFamily="34" charset="0"/>
              </a:rPr>
              <a:t>Rechart</a:t>
            </a:r>
            <a:endParaRPr lang="en-IN" sz="1400" dirty="0"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itchFamily="34" charset="0"/>
              <a:buChar char="•"/>
            </a:pPr>
            <a:r>
              <a:rPr lang="en-IN" sz="1400" b="1" dirty="0">
                <a:latin typeface="Arial" pitchFamily="34" charset="0"/>
                <a:cs typeface="Arial" pitchFamily="34" charset="0"/>
              </a:rPr>
              <a:t>Database and Security</a:t>
            </a:r>
          </a:p>
          <a:p>
            <a:pPr marL="1257300" lvl="2" indent="-342900" algn="just">
              <a:buFont typeface="Arial" pitchFamily="34" charset="0"/>
              <a:buChar char="•"/>
            </a:pPr>
            <a:r>
              <a:rPr lang="en-IN" sz="1400" dirty="0">
                <a:latin typeface="Arial" pitchFamily="34" charset="0"/>
                <a:cs typeface="Arial" pitchFamily="34" charset="0"/>
              </a:rPr>
              <a:t>Helmet.js</a:t>
            </a:r>
          </a:p>
          <a:p>
            <a:pPr marL="1257300" lvl="2" indent="-342900" algn="just">
              <a:buFont typeface="Arial" pitchFamily="34" charset="0"/>
              <a:buChar char="•"/>
            </a:pPr>
            <a:r>
              <a:rPr lang="en-IN" sz="1400" dirty="0">
                <a:latin typeface="Arial" pitchFamily="34" charset="0"/>
                <a:cs typeface="Arial" pitchFamily="34" charset="0"/>
              </a:rPr>
              <a:t>CORS</a:t>
            </a:r>
          </a:p>
          <a:p>
            <a:pPr marL="342900" indent="-342900" algn="just">
              <a:buFont typeface="Arial" pitchFamily="34" charset="0"/>
              <a:buChar char="•"/>
            </a:pPr>
            <a:endParaRPr lang="en-IN" dirty="0">
              <a:latin typeface="Arial" pitchFamily="34" charset="0"/>
              <a:cs typeface="Arial" pitchFamily="34" charset="0"/>
            </a:endParaRPr>
          </a:p>
          <a:p>
            <a:pPr algn="just"/>
            <a:endParaRPr lang="en-US" dirty="0">
              <a:latin typeface="Arial" pitchFamily="34" charset="0"/>
              <a:cs typeface="Arial" pitchFamily="34" charset="0"/>
            </a:endParaRPr>
          </a:p>
          <a:p>
            <a:pPr marL="342900" indent="-342900" algn="just"/>
            <a:endParaRPr lang="en-IN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Civic</a:t>
            </a:r>
          </a:p>
          <a:p>
            <a:pPr algn="ctr"/>
            <a:r>
              <a:rPr lang="en-IN" b="1" dirty="0"/>
              <a:t>Wave</a:t>
            </a: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25C4CB9-8C4A-BF45-C6A0-4E8E6DD7B5AB}"/>
              </a:ext>
            </a:extLst>
          </p:cNvPr>
          <p:cNvSpPr/>
          <p:nvPr/>
        </p:nvSpPr>
        <p:spPr>
          <a:xfrm>
            <a:off x="186431" y="1201059"/>
            <a:ext cx="4039340" cy="4711469"/>
          </a:xfrm>
          <a:prstGeom prst="rect">
            <a:avLst/>
          </a:prstGeom>
          <a:noFill/>
          <a:ln w="19050">
            <a:solidFill>
              <a:srgbClr val="329E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F27DBA3-A715-1B52-4303-4D177F788CF7}"/>
              </a:ext>
            </a:extLst>
          </p:cNvPr>
          <p:cNvSpPr/>
          <p:nvPr/>
        </p:nvSpPr>
        <p:spPr>
          <a:xfrm>
            <a:off x="4564422" y="1425901"/>
            <a:ext cx="7441147" cy="4160490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b="1" dirty="0"/>
          </a:p>
          <a:p>
            <a:pPr algn="ctr"/>
            <a:r>
              <a:rPr lang="en-IN" b="1" dirty="0"/>
              <a:t>Civic</a:t>
            </a:r>
          </a:p>
          <a:p>
            <a:pPr algn="ctr"/>
            <a:r>
              <a:rPr lang="en-IN" b="1" dirty="0"/>
              <a:t>Wave</a:t>
            </a:r>
          </a:p>
          <a:p>
            <a:pPr algn="ctr"/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8" name="Diagram 7"/>
          <p:cNvGraphicFramePr/>
          <p:nvPr/>
        </p:nvGraphicFramePr>
        <p:xfrm>
          <a:off x="912326" y="1179965"/>
          <a:ext cx="9929845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179965"/>
            <a:ext cx="9385300" cy="48936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IMPACT: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lang="en-IN" sz="2400" b="1" dirty="0">
              <a:solidFill>
                <a:schemeClr val="accent5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lang="en-IN" sz="2400" b="1" dirty="0">
              <a:solidFill>
                <a:schemeClr val="accent5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lang="en-IN" sz="2400" b="1" dirty="0">
              <a:solidFill>
                <a:schemeClr val="accent5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lang="en-IN" sz="2400" b="1" dirty="0">
              <a:solidFill>
                <a:schemeClr val="accent5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IN" sz="2400" b="1" dirty="0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BENEFITS: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lang="en-IN" sz="2400" b="1" dirty="0">
              <a:solidFill>
                <a:schemeClr val="accent5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lang="en-IN" sz="2400" b="1" dirty="0">
              <a:solidFill>
                <a:schemeClr val="accent5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lang="en-IN" sz="2400" b="1" dirty="0">
              <a:solidFill>
                <a:schemeClr val="accent5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lang="en-IN" sz="2400" b="1" dirty="0">
              <a:solidFill>
                <a:schemeClr val="accent5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lang="en-IN" sz="2400" b="1" dirty="0">
              <a:solidFill>
                <a:schemeClr val="accent5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lang="en-IN" sz="2400" b="1" dirty="0">
              <a:solidFill>
                <a:schemeClr val="accent5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lang="en-IN" sz="2400" b="1" dirty="0">
              <a:solidFill>
                <a:schemeClr val="accent5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b="1" dirty="0"/>
          </a:p>
          <a:p>
            <a:pPr algn="ctr"/>
            <a:r>
              <a:rPr lang="en-IN" b="1" dirty="0"/>
              <a:t>Civic</a:t>
            </a:r>
          </a:p>
          <a:p>
            <a:pPr algn="ctr"/>
            <a:r>
              <a:rPr lang="en-IN" b="1" dirty="0"/>
              <a:t>Wave</a:t>
            </a:r>
          </a:p>
          <a:p>
            <a:pPr algn="ctr"/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1129004" y="1586204"/>
            <a:ext cx="971627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b="1" dirty="0"/>
              <a:t>Faster Issue Identification</a:t>
            </a:r>
            <a:r>
              <a:rPr lang="en-US" dirty="0"/>
              <a:t>:</a:t>
            </a:r>
            <a:r>
              <a:rPr lang="en-GB" dirty="0"/>
              <a:t> Allows for proactive municipal response and reducing unaddressed issues in the city.</a:t>
            </a:r>
          </a:p>
          <a:p>
            <a:pPr>
              <a:buFont typeface="Arial" pitchFamily="34" charset="0"/>
              <a:buChar char="•"/>
            </a:pPr>
            <a:r>
              <a:rPr lang="en-GB" b="1" dirty="0"/>
              <a:t>Reduced Corruption and Negligence</a:t>
            </a:r>
            <a:r>
              <a:rPr lang="en-GB" dirty="0"/>
              <a:t>: Automated tracking greatly reduce the chances of mishandling of complaints</a:t>
            </a:r>
          </a:p>
          <a:p>
            <a:pPr>
              <a:buFont typeface="Arial" pitchFamily="34" charset="0"/>
              <a:buChar char="•"/>
            </a:pPr>
            <a:r>
              <a:rPr lang="en-GB" b="1" dirty="0"/>
              <a:t>Efficient Collaboration: </a:t>
            </a:r>
            <a:r>
              <a:rPr lang="en-GB" dirty="0"/>
              <a:t>Departments work together more efficiently to resolve problems.</a:t>
            </a:r>
            <a:endParaRPr lang="en-US" dirty="0"/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283050" y="3513292"/>
          <a:ext cx="9447154" cy="2560320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46941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29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9243">
                <a:tc>
                  <a:txBody>
                    <a:bodyPr/>
                    <a:lstStyle/>
                    <a:p>
                      <a:r>
                        <a:rPr lang="en-IN" dirty="0"/>
                        <a:t>FOR</a:t>
                      </a:r>
                      <a:r>
                        <a:rPr lang="en-IN" baseline="0" dirty="0"/>
                        <a:t> GOVERNMENT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FOR CITIZENS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1176">
                <a:tc>
                  <a:txBody>
                    <a:bodyPr/>
                    <a:lstStyle/>
                    <a:p>
                      <a:r>
                        <a:rPr lang="en-GB" b="1" dirty="0"/>
                        <a:t>Resource Optimization</a:t>
                      </a:r>
                      <a:r>
                        <a:rPr lang="en-GB" dirty="0"/>
                        <a:t>: Staff use analytics to identify recurring problems.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Time and Cost Savings</a:t>
                      </a:r>
                      <a:r>
                        <a:rPr lang="en-GB" dirty="0"/>
                        <a:t>: No need to physically visit municipal offices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1176">
                <a:tc>
                  <a:txBody>
                    <a:bodyPr/>
                    <a:lstStyle/>
                    <a:p>
                      <a:r>
                        <a:rPr lang="en-GB" b="1" dirty="0"/>
                        <a:t>24/7 Accessibility</a:t>
                      </a:r>
                      <a:r>
                        <a:rPr lang="en-GB" dirty="0"/>
                        <a:t>:Access to report, track, and resolve  problem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Easy, Convenient Reporting</a:t>
                      </a:r>
                      <a:endParaRPr lang="en-US" b="1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3108">
                <a:tc>
                  <a:txBody>
                    <a:bodyPr/>
                    <a:lstStyle/>
                    <a:p>
                      <a:r>
                        <a:rPr lang="en-GB" b="1" dirty="0"/>
                        <a:t>Performance Analytics</a:t>
                      </a:r>
                      <a:r>
                        <a:rPr lang="en-GB" dirty="0"/>
                        <a:t>: Detailed reports on departmental response times and user satisfaction enable better management 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Central</a:t>
                      </a:r>
                      <a:r>
                        <a:rPr lang="en-GB" dirty="0"/>
                        <a:t> </a:t>
                      </a:r>
                      <a:r>
                        <a:rPr lang="en-GB" b="1" dirty="0"/>
                        <a:t>Access</a:t>
                      </a:r>
                      <a:r>
                        <a:rPr lang="en-GB" dirty="0"/>
                        <a:t> </a:t>
                      </a:r>
                      <a:r>
                        <a:rPr lang="en-GB" b="1" dirty="0"/>
                        <a:t>to</a:t>
                      </a:r>
                      <a:r>
                        <a:rPr lang="en-GB" dirty="0"/>
                        <a:t> </a:t>
                      </a:r>
                      <a:r>
                        <a:rPr lang="en-GB" b="1" dirty="0"/>
                        <a:t>Local</a:t>
                      </a:r>
                      <a:r>
                        <a:rPr lang="en-GB" dirty="0"/>
                        <a:t> </a:t>
                      </a:r>
                      <a:r>
                        <a:rPr lang="en-GB" b="1" dirty="0"/>
                        <a:t>Resources</a:t>
                      </a:r>
                      <a:r>
                        <a:rPr lang="en-GB" dirty="0"/>
                        <a:t>: Information about local benefits, offices, and community facilities is readily available on the site.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917509" y="1179963"/>
            <a:ext cx="9458132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en-IN" sz="1600" b="1" noProof="0" dirty="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IN" sz="20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Crowdsourced Civic Issue:</a:t>
            </a:r>
          </a:p>
          <a:p>
            <a:pPr marL="342900" lvl="0" indent="-342900" algn="just">
              <a:defRPr/>
            </a:pPr>
            <a:r>
              <a:rPr lang="en-IN" sz="1600" dirty="0">
                <a:latin typeface="Arial" pitchFamily="34" charset="0"/>
                <a:cs typeface="Arial" pitchFamily="34" charset="0"/>
              </a:rPr>
              <a:t> </a:t>
            </a:r>
          </a:p>
          <a:p>
            <a:pPr marL="342900" lvl="0" indent="-342900" algn="just">
              <a:defRPr/>
            </a:pPr>
            <a:r>
              <a:rPr lang="en-IN" sz="1600" dirty="0">
                <a:latin typeface="Arial" pitchFamily="34" charset="0"/>
                <a:cs typeface="Arial" pitchFamily="34" charset="0"/>
              </a:rPr>
              <a:t> </a:t>
            </a:r>
            <a:endParaRPr lang="en-US" sz="1600" dirty="0">
              <a:latin typeface="Arial" pitchFamily="34" charset="0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lang="en-US" sz="2800" noProof="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lang="en-IN" sz="28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lang="en-IN" sz="28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lang="en-IN" sz="28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514350" marR="0" lvl="0" indent="-51435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rabicPeriod" startAt="2"/>
              <a:tabLst/>
              <a:defRPr/>
            </a:pPr>
            <a:r>
              <a:rPr lang="en-IN" sz="20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Deployment of the interface :</a:t>
            </a:r>
          </a:p>
          <a:p>
            <a:pPr marL="971550" lvl="1" indent="-514350" algn="just">
              <a:buFont typeface="+mj-lt"/>
              <a:buAutoNum type="arabicPeriod"/>
              <a:defRPr/>
            </a:pPr>
            <a:r>
              <a:rPr lang="en-GB" sz="1600" dirty="0">
                <a:solidFill>
                  <a:srgbClr val="323232"/>
                </a:solidFill>
                <a:latin typeface="Arial" pitchFamily="34" charset="0"/>
                <a:cs typeface="Arial" pitchFamily="34" charset="0"/>
              </a:rPr>
              <a:t>Digital Civic Engagement in China: Using 'Micro Advice' Platform to Improve People’s     Livelihood.</a:t>
            </a:r>
          </a:p>
          <a:p>
            <a:pPr marL="971550" lvl="1" indent="-514350" algn="just">
              <a:buFont typeface="+mj-lt"/>
              <a:buAutoNum type="arabicPeriod"/>
              <a:defRPr/>
            </a:pPr>
            <a:r>
              <a:rPr lang="en-GB" sz="1600" dirty="0">
                <a:solidFill>
                  <a:srgbClr val="323232"/>
                </a:solidFill>
                <a:latin typeface="Arial" pitchFamily="34" charset="0"/>
                <a:cs typeface="Arial" pitchFamily="34" charset="0"/>
              </a:rPr>
              <a:t>Docker for web developers: </a:t>
            </a:r>
            <a:r>
              <a:rPr lang="en-GB" sz="1600" dirty="0">
                <a:solidFill>
                  <a:srgbClr val="323232"/>
                </a:solidFill>
                <a:latin typeface="Arial" pitchFamily="34" charset="0"/>
                <a:cs typeface="Arial" pitchFamily="34" charset="0"/>
                <a:hlinkClick r:id="rId3"/>
              </a:rPr>
              <a:t>https://www.docker.com/blog/docker-for-web-developers/</a:t>
            </a:r>
            <a:r>
              <a:rPr lang="en-GB" sz="1600" dirty="0">
                <a:solidFill>
                  <a:srgbClr val="323232"/>
                </a:solidFill>
                <a:latin typeface="Arial" pitchFamily="34" charset="0"/>
                <a:cs typeface="Arial" pitchFamily="34" charset="0"/>
              </a:rPr>
              <a:t> </a:t>
            </a:r>
          </a:p>
          <a:p>
            <a:pPr marL="800100" lvl="1" indent="-342900" algn="just">
              <a:buFont typeface="+mj-lt"/>
              <a:buAutoNum type="arabicPeriod"/>
              <a:defRPr/>
            </a:pPr>
            <a:r>
              <a:rPr lang="en-IN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  A Crowdsourced Civic Issue Tracking System for Smart Cities . In 2021 International   	Conference on Smart Technologies in Computing, Electrical and Electronics (ICSTCEE).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b="1" dirty="0"/>
          </a:p>
          <a:p>
            <a:pPr algn="ctr"/>
            <a:r>
              <a:rPr lang="en-IN" b="1" dirty="0"/>
              <a:t>Civic</a:t>
            </a:r>
          </a:p>
          <a:p>
            <a:pPr algn="ctr"/>
            <a:r>
              <a:rPr lang="en-IN" b="1" dirty="0"/>
              <a:t>Wave</a:t>
            </a:r>
          </a:p>
          <a:p>
            <a:pPr algn="ctr"/>
            <a:endParaRPr lang="en-IN" dirty="0"/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1328057" y="1964795"/>
            <a:ext cx="8916955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GB" sz="1600" dirty="0">
                <a:latin typeface="Arial" pitchFamily="34" charset="0"/>
                <a:cs typeface="Arial" pitchFamily="34" charset="0"/>
              </a:rPr>
              <a:t>A Crowdsourced Complaint and Geotagging System</a:t>
            </a:r>
            <a:r>
              <a:rPr lang="en-IN" sz="16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:</a:t>
            </a:r>
          </a:p>
          <a:p>
            <a:pPr marL="342900" indent="-342900"/>
            <a:r>
              <a:rPr lang="en-IN" sz="16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  <a:hlinkClick r:id="rId5"/>
              </a:rPr>
              <a:t>  https://www.irjmets.com/uploadedfiles/paper//issue_4_april_2025/73659/final/fin_irjmets1745604791.pdf</a:t>
            </a:r>
            <a:endParaRPr lang="en-IN" sz="1600" b="1" dirty="0">
              <a:solidFill>
                <a:srgbClr val="002060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AutoNum type="arabicPeriod" startAt="2"/>
            </a:pPr>
            <a:r>
              <a:rPr lang="en-IN" sz="1600" dirty="0">
                <a:latin typeface="Arial" pitchFamily="34" charset="0"/>
                <a:cs typeface="Arial" pitchFamily="34" charset="0"/>
              </a:rPr>
              <a:t>A Framework for Open Civic Design : Integrating Public Participation,Crowdsourcing,and Design Thinking (2021)</a:t>
            </a:r>
          </a:p>
          <a:p>
            <a:pPr marL="342900" indent="-342900">
              <a:buFontTx/>
              <a:buAutoNum type="arabicPeriod" startAt="2"/>
            </a:pPr>
            <a:r>
              <a:rPr lang="en-IN" sz="1600" dirty="0">
                <a:latin typeface="Arial" pitchFamily="34" charset="0"/>
                <a:cs typeface="Arial" pitchFamily="34" charset="0"/>
              </a:rPr>
              <a:t>Research Paper :</a:t>
            </a:r>
            <a:r>
              <a:rPr lang="en-GB" sz="1600" dirty="0">
                <a:latin typeface="Arial" pitchFamily="34" charset="0"/>
                <a:cs typeface="Arial" pitchFamily="34" charset="0"/>
              </a:rPr>
              <a:t>Crowdsourcing Behaviour in Reporting Civic Issues: The Case of Boston's 311 Systems</a:t>
            </a:r>
            <a:endParaRPr lang="en-IN" sz="1600" b="1" dirty="0">
              <a:solidFill>
                <a:srgbClr val="002060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8144</TotalTime>
  <Words>641</Words>
  <Application>Microsoft Office PowerPoint</Application>
  <PresentationFormat>Widescreen</PresentationFormat>
  <Paragraphs>142</Paragraphs>
  <Slides>6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SMART INDIA HACKATHON 2025</vt:lpstr>
      <vt:lpstr> JAN DRISTI</vt:lpstr>
      <vt:lpstr>TECHNICAL APPROACH</vt:lpstr>
      <vt:lpstr>FEASIBILITY AND VIABILITY</vt:lpstr>
      <vt:lpstr>IMPACT AND BENEFITS</vt:lpstr>
      <vt:lpstr>RESEARCH  AND REFERENCES</vt:lpstr>
    </vt:vector>
  </TitlesOfParts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creator>Crowdfunder</dc:creator>
  <cp:lastModifiedBy>rakesh gupta</cp:lastModifiedBy>
  <cp:revision>197</cp:revision>
  <dcterms:created xsi:type="dcterms:W3CDTF">2013-12-12T18:46:50Z</dcterms:created>
  <dcterms:modified xsi:type="dcterms:W3CDTF">2025-09-19T07:35:06Z</dcterms:modified>
</cp:coreProperties>
</file>